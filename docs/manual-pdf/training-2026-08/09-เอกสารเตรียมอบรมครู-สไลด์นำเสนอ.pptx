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3200" cy="125999"/>
          </a:xfrm>
          <a:prstGeom prst="roundRect">
            <a:avLst>
              <a:gd name="adj" fmla="val 6000"/>
            </a:avLst>
          </a:prstGeom>
          <a:solidFill>
            <a:srgbClr val="183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2000" y="1584000"/>
            <a:ext cx="106092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500" b="1">
                <a:solidFill>
                  <a:srgbClr val="245D7A"/>
                </a:solidFill>
                <a:latin typeface="Tahoma"/>
              </a:rPr>
              <a:t>ประชุมเคาะแผนก่อนประกาศใช้ · 27 สิงหาคม 2569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4000" b="1">
                <a:solidFill>
                  <a:srgbClr val="183A5A"/>
                </a:solidFill>
                <a:latin typeface="Tahoma"/>
              </a:rPr>
              <a:t>ระบบพร้อมแล้ว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4000" b="1">
                <a:solidFill>
                  <a:srgbClr val="183A5A"/>
                </a:solidFill>
                <a:latin typeface="Tahoma"/>
              </a:rPr>
              <a:t>สิ่งที่ยังไม่พร้อมคือผู้ใช้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900" b="0">
                <a:solidFill>
                  <a:srgbClr val="5B6770"/>
                </a:solidFill>
                <a:latin typeface="Tahoma"/>
              </a:rPr>
              <a:t>ผลทดสอบระบบรถรับส่งนักเรียนจังหวัดลำปาง จากการใช้งานจริงครบทั้ง 6 สิทธิ์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000" y="5994000"/>
            <a:ext cx="10609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00" b="0">
                <a:solidFill>
                  <a:srgbClr val="5B6770"/>
                </a:solidFill>
                <a:latin typeface="Tahoma"/>
              </a:rPr>
              <a:t>ทุกตัวเลขในเอกสารนี้เก็บจากระบบจริง ไม่ใช่การประมาณการ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60000"/>
            <a:ext cx="110412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3000" b="1">
                <a:solidFill>
                  <a:srgbClr val="183A5A"/>
                </a:solidFill>
                <a:latin typeface="Tahoma"/>
              </a:rPr>
              <a:t>ความพร้อมใน 30 วินาที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4000" y="1548000"/>
          <a:ext cx="10825200" cy="273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4552"/>
                <a:gridCol w="2165040"/>
                <a:gridCol w="5845608"/>
              </a:tblGrid>
              <a:tr h="34200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Tahoma"/>
                        </a:defRPr>
                      </a:pPr>
                      <a:r>
                        <a:t>ด้าน</a:t>
                      </a:r>
                    </a:p>
                  </a:txBody>
                  <a:tcPr>
                    <a:solidFill>
                      <a:srgbClr val="183A5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Tahoma"/>
                        </a:defRPr>
                      </a:pPr>
                      <a:r>
                        <a:t>สถานะ</a:t>
                      </a:r>
                    </a:p>
                  </a:txBody>
                  <a:tcPr>
                    <a:solidFill>
                      <a:srgbClr val="183A5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Tahoma"/>
                        </a:defRPr>
                      </a:pPr>
                      <a:r>
                        <a:t>ความหมาย</a:t>
                      </a:r>
                    </a:p>
                  </a:txBody>
                  <a:tcPr>
                    <a:solidFill>
                      <a:srgbClr val="183A5A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3748"/>
                          </a:solidFill>
                          <a:latin typeface="Tahoma"/>
                        </a:defRPr>
                      </a:pPr>
                      <a:r>
                        <a:t>ตัวระบบ (ซอฟต์แวร์)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B7F4B"/>
                          </a:solidFill>
                          <a:latin typeface="Tahoma"/>
                        </a:defRPr>
                      </a:pPr>
                      <a:r>
                        <a:t>พร้อมใช้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3748"/>
                          </a:solidFill>
                          <a:latin typeface="Tahoma"/>
                        </a:defRPr>
                      </a:pPr>
                      <a:r>
                        <a:t>ทดสอบครบ 6 สิทธิ์ ไม่พบสิ่งที่ขวางการประกาศใช้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3748"/>
                          </a:solidFill>
                          <a:latin typeface="Tahoma"/>
                        </a:defRPr>
                      </a:pPr>
                      <a:r>
                        <a:t>การเข้าถึงจากอินเทอร์เน็ต</a:t>
                      </a:r>
                    </a:p>
                  </a:txBody>
                  <a:tcPr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B7F4B"/>
                          </a:solidFill>
                          <a:latin typeface="Tahoma"/>
                        </a:defRPr>
                      </a:pPr>
                      <a:r>
                        <a:t>พร้อมใช้</a:t>
                      </a:r>
                    </a:p>
                  </a:txBody>
                  <a:tcPr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3748"/>
                          </a:solidFill>
                          <a:latin typeface="Tahoma"/>
                        </a:defRPr>
                      </a:pPr>
                      <a:r>
                        <a:t>เข้าใช้งานได้จริงทั้งหน้าเว็บและระบบเบื้องหลัง</a:t>
                      </a:r>
                    </a:p>
                  </a:txBody>
                  <a:tcPr>
                    <a:solidFill>
                      <a:srgbClr val="F6FAFC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3748"/>
                          </a:solidFill>
                          <a:latin typeface="Tahoma"/>
                        </a:defRPr>
                      </a:pPr>
                      <a:r>
                        <a:t>ระบบสิทธิ์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B7F4B"/>
                          </a:solidFill>
                          <a:latin typeface="Tahoma"/>
                        </a:defRPr>
                      </a:pPr>
                      <a:r>
                        <a:t>พร้อมใช้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3748"/>
                          </a:solidFill>
                          <a:latin typeface="Tahoma"/>
                        </a:defRPr>
                      </a:pPr>
                      <a:r>
                        <a:t>กันการเข้าถึงข้ามสิทธิ์ได้จริงที่ฝั่งเซิร์ฟเวอร์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3748"/>
                          </a:solidFill>
                          <a:latin typeface="Tahoma"/>
                        </a:defRPr>
                      </a:pPr>
                      <a:r>
                        <a:t>ข้อมูลนักเรียน</a:t>
                      </a:r>
                    </a:p>
                  </a:txBody>
                  <a:tcPr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B7F4B"/>
                          </a:solidFill>
                          <a:latin typeface="Tahoma"/>
                        </a:defRPr>
                      </a:pPr>
                      <a:r>
                        <a:t>พร้อมใช้</a:t>
                      </a:r>
                    </a:p>
                  </a:txBody>
                  <a:tcPr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3748"/>
                          </a:solidFill>
                          <a:latin typeface="Tahoma"/>
                        </a:defRPr>
                      </a:pPr>
                      <a:r>
                        <a:t>4,462 คน จาก 317 โรงเรียน</a:t>
                      </a:r>
                    </a:p>
                  </a:txBody>
                  <a:tcPr>
                    <a:solidFill>
                      <a:srgbClr val="F6FAFC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3748"/>
                          </a:solidFill>
                          <a:latin typeface="Tahoma"/>
                        </a:defRPr>
                      </a:pPr>
                      <a:r>
                        <a:t>บัญชีผู้ใช้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B02A37"/>
                          </a:solidFill>
                          <a:latin typeface="Tahoma"/>
                        </a:defRPr>
                      </a:pPr>
                      <a:r>
                        <a:t>ต้องเตรียมก่อน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3748"/>
                          </a:solidFill>
                          <a:latin typeface="Tahoma"/>
                        </a:defRPr>
                      </a:pPr>
                      <a:r>
                        <a:t>643 บัญชียังไม่เคยเข้าระบบ (คนขับ 447 · โรงเรียน 195)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3748"/>
                          </a:solidFill>
                          <a:latin typeface="Tahoma"/>
                        </a:defRPr>
                      </a:pPr>
                      <a:r>
                        <a:t>ข้อมูลรถ</a:t>
                      </a:r>
                    </a:p>
                  </a:txBody>
                  <a:tcPr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B02A37"/>
                          </a:solidFill>
                          <a:latin typeface="Tahoma"/>
                        </a:defRPr>
                      </a:pPr>
                      <a:r>
                        <a:t>ต้องเตรียมก่อน</a:t>
                      </a:r>
                    </a:p>
                  </a:txBody>
                  <a:tcPr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3748"/>
                          </a:solidFill>
                          <a:latin typeface="Tahoma"/>
                        </a:defRPr>
                      </a:pPr>
                      <a:r>
                        <a:t>586 คัน ยังไม่ผ่านการรับรองแม้แต่คันเดียว</a:t>
                      </a:r>
                    </a:p>
                  </a:txBody>
                  <a:tcPr>
                    <a:solidFill>
                      <a:srgbClr val="F6FAFC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3748"/>
                          </a:solidFill>
                          <a:latin typeface="Tahoma"/>
                        </a:defRPr>
                      </a:pPr>
                      <a:r>
                        <a:t>การเชื่อม LINE ผู้ปกครอง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B45409"/>
                          </a:solidFill>
                          <a:latin typeface="Tahoma"/>
                        </a:defRPr>
                      </a:pPr>
                      <a:r>
                        <a:t>ยังไม่เริ่ม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3748"/>
                          </a:solidFill>
                          <a:latin typeface="Tahoma"/>
                        </a:defRPr>
                      </a:pPr>
                      <a:r>
                        <a:t>ผูกแล้ว 11 ราย จาก 4,462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60000"/>
            <a:ext cx="110412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3000" b="1">
                <a:solidFill>
                  <a:srgbClr val="183A5A"/>
                </a:solidFill>
                <a:latin typeface="Tahoma"/>
              </a:rPr>
              <a:t>ตัวเลขสามตัวที่อธิบายทุกอย่าง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4000" y="1655999"/>
            <a:ext cx="3464400" cy="2304000"/>
          </a:xfrm>
          <a:prstGeom prst="roundRect">
            <a:avLst>
              <a:gd name="adj" fmla="val 6000"/>
            </a:avLst>
          </a:prstGeom>
          <a:solidFill>
            <a:srgbClr val="F6FAFC"/>
          </a:solidFill>
          <a:ln w="12700">
            <a:solidFill>
              <a:srgbClr val="D5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8000" y="2015999"/>
            <a:ext cx="3176400" cy="1800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5000" b="1">
                <a:solidFill>
                  <a:srgbClr val="B02A37"/>
                </a:solidFill>
                <a:latin typeface="Tahoma"/>
              </a:rPr>
              <a:t>643</a:t>
            </a:r>
          </a:p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500" b="0">
                <a:solidFill>
                  <a:srgbClr val="2D3748"/>
                </a:solidFill>
                <a:latin typeface="Tahoma"/>
              </a:rPr>
              <a:t>บัญชีที่ยังไม่เคยเข้าระบบสำเร็จ</a:t>
            </a:r>
          </a:p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2D3748"/>
                </a:solidFill>
                <a:latin typeface="Tahoma"/>
              </a:rPr>
              <a:t>(คนขับ 447 · โรงเรียน 195)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64400" y="1655999"/>
            <a:ext cx="3464400" cy="2304000"/>
          </a:xfrm>
          <a:prstGeom prst="roundRect">
            <a:avLst>
              <a:gd name="adj" fmla="val 6000"/>
            </a:avLst>
          </a:prstGeom>
          <a:solidFill>
            <a:srgbClr val="F6FAFC"/>
          </a:solidFill>
          <a:ln w="12700">
            <a:solidFill>
              <a:srgbClr val="D5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08400" y="2015999"/>
            <a:ext cx="3176400" cy="1800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5000" b="1">
                <a:solidFill>
                  <a:srgbClr val="B02A37"/>
                </a:solidFill>
                <a:latin typeface="Tahoma"/>
              </a:rPr>
              <a:t>0</a:t>
            </a:r>
          </a:p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500" b="0">
                <a:solidFill>
                  <a:srgbClr val="2D3748"/>
                </a:solidFill>
                <a:latin typeface="Tahoma"/>
              </a:rPr>
              <a:t>รถที่ผ่านการรับรอง</a:t>
            </a:r>
          </a:p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2D3748"/>
                </a:solidFill>
                <a:latin typeface="Tahoma"/>
              </a:rPr>
              <a:t>จากทั้งหมด 586 คัน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4800" y="1655999"/>
            <a:ext cx="3464400" cy="2304000"/>
          </a:xfrm>
          <a:prstGeom prst="roundRect">
            <a:avLst>
              <a:gd name="adj" fmla="val 6000"/>
            </a:avLst>
          </a:prstGeom>
          <a:solidFill>
            <a:srgbClr val="F6FAFC"/>
          </a:solidFill>
          <a:ln w="12700">
            <a:solidFill>
              <a:srgbClr val="D5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8800" y="2015999"/>
            <a:ext cx="3176400" cy="1800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5000" b="1">
                <a:solidFill>
                  <a:srgbClr val="B45409"/>
                </a:solidFill>
                <a:latin typeface="Tahoma"/>
              </a:rPr>
              <a:t>11</a:t>
            </a:r>
          </a:p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500" b="0">
                <a:solidFill>
                  <a:srgbClr val="2D3748"/>
                </a:solidFill>
                <a:latin typeface="Tahoma"/>
              </a:rPr>
              <a:t>ผู้ปกครองที่ผูก LINE แล้ว</a:t>
            </a:r>
          </a:p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2D3748"/>
                </a:solidFill>
                <a:latin typeface="Tahoma"/>
              </a:rPr>
              <a:t>จากทั้งหมด 4,462 ราย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4000" y="4211998"/>
            <a:ext cx="108252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500" b="0">
                <a:solidFill>
                  <a:srgbClr val="5B6770"/>
                </a:solidFill>
                <a:latin typeface="Tahoma"/>
              </a:rPr>
              <a:t>ตัวเลขชุดนี้ไม่ได้แปลว่าระบบเสีย — ทุกอย่างทำงานได้ แต่ยังไม่มีคนเข้ามาใช้ การเช็กชื่อขึ้น-ลงรถหยุดนิ่งตั้งแต่ 2 กรกฎาคม 2569 ด้วยเหตุผลเดียวกัน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60000"/>
            <a:ext cx="110412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3000" b="1">
                <a:solidFill>
                  <a:srgbClr val="183A5A"/>
                </a:solidFill>
                <a:latin typeface="Tahoma"/>
              </a:rPr>
              <a:t>สิ่งที่ทดสอบแล้วว่าใช้ได้จริง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0">
                <a:solidFill>
                  <a:srgbClr val="5B6770"/>
                </a:solidFill>
                <a:latin typeface="Tahoma"/>
              </a:rPr>
              <a:t>ผ่านการกดใช้งานจริง ไม่ใช่การตรวจจากเอกสาร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4000" y="1512000"/>
            <a:ext cx="1082520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900" b="1">
                <a:solidFill>
                  <a:srgbClr val="183A5A"/>
                </a:solidFill>
                <a:latin typeface="Tahoma"/>
              </a:rPr>
              <a:t>นำเข้ารายชื่อนักเรียนด้วยไฟล์ CSV</a:t>
            </a:r>
          </a:p>
          <a:p>
            <a:pPr algn="l">
              <a:lnSpc>
                <a:spcPct val="135000"/>
              </a:lnSpc>
              <a:spcAft>
                <a:spcPts val="1300"/>
              </a:spcAft>
            </a:pPr>
            <a:r>
              <a:rPr sz="1900" b="0">
                <a:solidFill>
                  <a:srgbClr val="2D3748"/>
                </a:solidFill>
                <a:latin typeface="Tahoma"/>
              </a:rPr>
              <a:t>ทดสอบด้วยไฟล์ที่จงใจใส่ข้อผิดพลาด ระบบจับได้ครบ — รหัสซ้ำ ชื่อว่าง เบอร์ผิดรูปแบบ และให้ตรวจสอบก่อนยืนยันเสมอ ถ้านำเข้าผิดย้อนกลับได้ พร้อมบันทึกเหตุผลลงประวัติ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900" b="1">
                <a:solidFill>
                  <a:srgbClr val="183A5A"/>
                </a:solidFill>
                <a:latin typeface="Tahoma"/>
              </a:rPr>
              <a:t>ระบบสิทธิ์กันข้อมูลข้ามหน่วยงาน</a:t>
            </a:r>
          </a:p>
          <a:p>
            <a:pPr algn="l">
              <a:lnSpc>
                <a:spcPct val="135000"/>
              </a:lnSpc>
              <a:spcAft>
                <a:spcPts val="1300"/>
              </a:spcAft>
            </a:pPr>
            <a:r>
              <a:rPr sz="1900" b="0">
                <a:solidFill>
                  <a:srgbClr val="2D3748"/>
                </a:solidFill>
                <a:latin typeface="Tahoma"/>
              </a:rPr>
              <a:t>ทดสอบโดยพยายามเข้าถึงข้อมูลที่ไม่ใช่ของตน ถูกปฏิเสธที่ฝั่งเซิร์ฟเวอร์ทุกครั้ง ไม่ใช่แค่ซ่อนเมนู — เจ้าหน้าที่ขนส่งไม่เห็นรายชื่อนักเรียน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900" b="1">
                <a:solidFill>
                  <a:srgbClr val="183A5A"/>
                </a:solidFill>
                <a:latin typeface="Tahoma"/>
              </a:rPr>
              <a:t>การใช้งานบนมือถือของคนขับ</a:t>
            </a:r>
          </a:p>
          <a:p>
            <a:pPr algn="l">
              <a:lnSpc>
                <a:spcPct val="135000"/>
              </a:lnSpc>
              <a:spcAft>
                <a:spcPts val="1300"/>
              </a:spcAft>
            </a:pPr>
            <a:r>
              <a:rPr sz="1900" b="0">
                <a:solidFill>
                  <a:srgbClr val="2D3748"/>
                </a:solidFill>
                <a:latin typeface="Tahoma"/>
              </a:rPr>
              <a:t>ปุ่มทุกปุ่มไม่ต่ำกว่า 44 พิกเซล กดด้วยนิ้วโป้งได้ · ยังต้องทดสอบเพิ่มเรื่องการอ่านกลางแดด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60000"/>
            <a:ext cx="110412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3000" b="1">
                <a:solidFill>
                  <a:srgbClr val="183A5A"/>
                </a:solidFill>
                <a:latin typeface="Tahoma"/>
              </a:rPr>
              <a:t>คนขับพร้อมแค่ไหน — ไขว้สองตัวเลข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0">
                <a:solidFill>
                  <a:srgbClr val="5B6770"/>
                </a:solidFill>
                <a:latin typeface="Tahoma"/>
              </a:rPr>
              <a:t>ร้อยละ 90 ผูกรถเรียบร้อยแล้ว — อุปสรรคหลักคือการเข้าระบบครั้งแรก ไม่ใช่การผูกรถ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4000" y="1548000"/>
          <a:ext cx="10825200" cy="136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30080"/>
                <a:gridCol w="2165040"/>
                <a:gridCol w="2165040"/>
                <a:gridCol w="2165040"/>
              </a:tblGrid>
              <a:tr h="34200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Tahoma"/>
                        </a:defRPr>
                      </a:pPr>
                      <a:r>
                        <a:t>กลุ่มบัญชีคนขับที่ใช้งานอยู่</a:t>
                      </a:r>
                    </a:p>
                  </a:txBody>
                  <a:tcPr>
                    <a:solidFill>
                      <a:srgbClr val="183A5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Tahoma"/>
                        </a:defRPr>
                      </a:pPr>
                      <a:r>
                        <a:t>ผูกรถแล้ว</a:t>
                      </a:r>
                    </a:p>
                  </a:txBody>
                  <a:tcPr>
                    <a:solidFill>
                      <a:srgbClr val="183A5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Tahoma"/>
                        </a:defRPr>
                      </a:pPr>
                      <a:r>
                        <a:t>ยังไม่ผูกรถ</a:t>
                      </a:r>
                    </a:p>
                  </a:txBody>
                  <a:tcPr>
                    <a:solidFill>
                      <a:srgbClr val="183A5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Tahoma"/>
                        </a:defRPr>
                      </a:pPr>
                      <a:r>
                        <a:t>รวม</a:t>
                      </a:r>
                    </a:p>
                  </a:txBody>
                  <a:tcPr>
                    <a:solidFill>
                      <a:srgbClr val="183A5A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3748"/>
                          </a:solidFill>
                          <a:latin typeface="Tahoma"/>
                        </a:defRPr>
                      </a:pPr>
                      <a:r>
                        <a:t>ยังไม่เคยเข้าระบบ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B7F4B"/>
                          </a:solidFill>
                          <a:latin typeface="Tahoma"/>
                        </a:defRPr>
                      </a:pPr>
                      <a:r>
                        <a:t>403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B45409"/>
                          </a:solidFill>
                          <a:latin typeface="Tahoma"/>
                        </a:defRPr>
                      </a:pPr>
                      <a:r>
                        <a:t>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3748"/>
                          </a:solidFill>
                          <a:latin typeface="Tahoma"/>
                        </a:defRPr>
                      </a:pPr>
                      <a:r>
                        <a:t>447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3748"/>
                          </a:solidFill>
                          <a:latin typeface="Tahoma"/>
                        </a:defRPr>
                      </a:pPr>
                      <a:r>
                        <a:t>เคยเข้าระบบแล้ว</a:t>
                      </a:r>
                    </a:p>
                  </a:txBody>
                  <a:tcPr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3748"/>
                          </a:solidFill>
                          <a:latin typeface="Tahoma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3748"/>
                          </a:solidFill>
                          <a:latin typeface="Tahoma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3748"/>
                          </a:solidFill>
                          <a:latin typeface="Tahoma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6FAFC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3748"/>
                          </a:solidFill>
                          <a:latin typeface="Tahoma"/>
                        </a:defRPr>
                      </a:pPr>
                      <a:r>
                        <a:t>รวม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B7F4B"/>
                          </a:solidFill>
                          <a:latin typeface="Tahoma"/>
                        </a:defRPr>
                      </a:pPr>
                      <a:r>
                        <a:t>404 — ร้อยละ 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B45409"/>
                          </a:solidFill>
                          <a:latin typeface="Tahoma"/>
                        </a:defRPr>
                      </a:pPr>
                      <a:r>
                        <a:t>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3748"/>
                          </a:solidFill>
                          <a:latin typeface="Tahoma"/>
                        </a:defRPr>
                      </a:pPr>
                      <a:r>
                        <a:t>451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60000"/>
            <a:ext cx="110412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3000" b="1">
                <a:solidFill>
                  <a:srgbClr val="183A5A"/>
                </a:solidFill>
                <a:latin typeface="Tahoma"/>
              </a:rPr>
              <a:t>สามอย่างที่ต้องเตรียมก่อนวันอบรม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0">
                <a:solidFill>
                  <a:srgbClr val="5B6770"/>
                </a:solidFill>
                <a:latin typeface="Tahoma"/>
              </a:rPr>
              <a:t>ถ้าข้ามหัวข้อนี้ การอบรมจะติดขัดตั้งแต่ต้นชั่วโมง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4000" y="1512000"/>
            <a:ext cx="1082520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900" b="1">
                <a:solidFill>
                  <a:srgbClr val="B45409"/>
                </a:solidFill>
                <a:latin typeface="Tahoma"/>
              </a:rPr>
              <a:t>1 · ผูกรถให้คนขับ 44 รายที่เหลือ</a:t>
            </a:r>
          </a:p>
          <a:p>
            <a:pPr algn="l">
              <a:lnSpc>
                <a:spcPct val="135000"/>
              </a:lnSpc>
              <a:spcAft>
                <a:spcPts val="1300"/>
              </a:spcAft>
            </a:pPr>
            <a:r>
              <a:rPr sz="1900" b="0">
                <a:solidFill>
                  <a:srgbClr val="2D3748"/>
                </a:solidFill>
                <a:latin typeface="Tahoma"/>
              </a:rPr>
              <a:t>ข่าวดี: คนขับ 403 จาก 447 รายที่ยังไม่เคยเข้าระบบ ผูกรถเรียบร้อยแล้ว พร้อมใช้ทันทีที่เข้าได้ เหลือ 44 รายที่ต้องผูกก่อน มิฉะนั้นเข้าไปแล้วใช้งานอะไรไม่ได้เลย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900" b="1">
                <a:solidFill>
                  <a:srgbClr val="B02A37"/>
                </a:solidFill>
                <a:latin typeface="Tahoma"/>
              </a:rPr>
              <a:t>2 · วางแผนพาผู้ใช้เข้าระบบครั้งแรก</a:t>
            </a:r>
          </a:p>
          <a:p>
            <a:pPr algn="l">
              <a:lnSpc>
                <a:spcPct val="135000"/>
              </a:lnSpc>
              <a:spcAft>
                <a:spcPts val="1300"/>
              </a:spcAft>
            </a:pPr>
            <a:r>
              <a:rPr sz="1900" b="0">
                <a:solidFill>
                  <a:srgbClr val="2D3748"/>
                </a:solidFill>
                <a:latin typeface="Tahoma"/>
              </a:rPr>
              <a:t>643 บัญชีได้รับรหัสไปแล้วแต่ยังไม่เคยเข้า การอบรมต้องเผื่อเวลาสำหรับ ขั้นตอนเปลี่ยนรหัสผ่านครั้งแรกของทุกคน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900" b="1">
                <a:solidFill>
                  <a:srgbClr val="B02A37"/>
                </a:solidFill>
                <a:latin typeface="Tahoma"/>
              </a:rPr>
              <a:t>3 · ตัดสินใจเรื่องกระบวนการรับรองรถ</a:t>
            </a:r>
          </a:p>
          <a:p>
            <a:pPr algn="l">
              <a:lnSpc>
                <a:spcPct val="135000"/>
              </a:lnSpc>
              <a:spcAft>
                <a:spcPts val="1300"/>
              </a:spcAft>
            </a:pPr>
            <a:r>
              <a:rPr sz="1900" b="0">
                <a:solidFill>
                  <a:srgbClr val="2D3748"/>
                </a:solidFill>
                <a:latin typeface="Tahoma"/>
              </a:rPr>
              <a:t>586 คันยังไม่ผ่านการรับรอง ข้อมูลทะเบียน พ.ร.บ. ภาษี ยังไม่มีในระบบ ต้องกำหนดว่าใครกรอก และเสร็จภายในกี่เดือน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60000"/>
            <a:ext cx="110412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3000" b="1">
                <a:solidFill>
                  <a:srgbClr val="183A5A"/>
                </a:solidFill>
                <a:latin typeface="Tahoma"/>
              </a:rPr>
              <a:t>ลำดับการอบรมที่แนะนำ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4000" y="1548000"/>
          <a:ext cx="10825200" cy="239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6016"/>
                <a:gridCol w="5196096"/>
                <a:gridCol w="4763088"/>
              </a:tblGrid>
              <a:tr h="34200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Tahoma"/>
                        </a:defRPr>
                      </a:pPr>
                      <a:r>
                        <a:t>ช่วง</a:t>
                      </a:r>
                    </a:p>
                  </a:txBody>
                  <a:tcPr>
                    <a:solidFill>
                      <a:srgbClr val="183A5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Tahoma"/>
                        </a:defRPr>
                      </a:pPr>
                      <a:r>
                        <a:t>เนื้อหา</a:t>
                      </a:r>
                    </a:p>
                  </a:txBody>
                  <a:tcPr>
                    <a:solidFill>
                      <a:srgbClr val="183A5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Tahoma"/>
                        </a:defRPr>
                      </a:pPr>
                      <a:r>
                        <a:t>หมายเหตุ</a:t>
                      </a:r>
                    </a:p>
                  </a:txBody>
                  <a:tcPr>
                    <a:solidFill>
                      <a:srgbClr val="183A5A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3748"/>
                          </a:solidFill>
                          <a:latin typeface="Tahoma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3748"/>
                          </a:solidFill>
                          <a:latin typeface="Tahoma"/>
                        </a:defRPr>
                      </a:pPr>
                      <a:r>
                        <a:t>เข้าสู่ระบบ + เปลี่ยนรหัสครั้งแรก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B45409"/>
                          </a:solidFill>
                          <a:latin typeface="Tahoma"/>
                        </a:defRPr>
                      </a:pPr>
                      <a:r>
                        <a:t>เผื่อเวลาให้มาก คนส่วนใหญ่ยังไม่เคยเข้า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3748"/>
                          </a:solidFill>
                          <a:latin typeface="Tahoma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3748"/>
                          </a:solidFill>
                          <a:latin typeface="Tahoma"/>
                        </a:defRPr>
                      </a:pPr>
                      <a:r>
                        <a:t>ดูแดชบอร์ดและรายชื่อนักเรียนของโรงเรียนตนเอง</a:t>
                      </a:r>
                    </a:p>
                  </a:txBody>
                  <a:tcPr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3748"/>
                          </a:solidFill>
                          <a:latin typeface="Tahoma"/>
                        </a:defRPr>
                      </a:pPr>
                      <a:r>
                        <a:t>สร้างความคุ้นเคยก่อนลงมือแก้ข้อมูล</a:t>
                      </a:r>
                    </a:p>
                  </a:txBody>
                  <a:tcPr>
                    <a:solidFill>
                      <a:srgbClr val="F6FAFC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3748"/>
                          </a:solidFill>
                          <a:latin typeface="Tahoma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3748"/>
                          </a:solidFill>
                          <a:latin typeface="Tahoma"/>
                        </a:defRPr>
                      </a:pPr>
                      <a:r>
                        <a:t>นำเข้ารายชื่อนักเรียนด้วยไฟล์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B02A37"/>
                          </a:solidFill>
                          <a:latin typeface="Tahoma"/>
                        </a:defRPr>
                      </a:pPr>
                      <a:r>
                        <a:t>ใช้ไฟล์ทดสอบ อย่าใช้ไฟล์จริง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3748"/>
                          </a:solidFill>
                          <a:latin typeface="Tahoma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3748"/>
                          </a:solidFill>
                          <a:latin typeface="Tahoma"/>
                        </a:defRPr>
                      </a:pPr>
                      <a:r>
                        <a:t>ตรวจผลก่อนยืนยัน และการย้อนกลับ</a:t>
                      </a:r>
                    </a:p>
                  </a:txBody>
                  <a:tcPr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3748"/>
                          </a:solidFill>
                          <a:latin typeface="Tahoma"/>
                        </a:defRPr>
                      </a:pPr>
                      <a:r>
                        <a:t>จุดที่ครูกังวลมากที่สุด ควรให้ลองเอง</a:t>
                      </a:r>
                    </a:p>
                  </a:txBody>
                  <a:tcPr>
                    <a:solidFill>
                      <a:srgbClr val="F6FAFC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3748"/>
                          </a:solidFill>
                          <a:latin typeface="Tahoma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3748"/>
                          </a:solidFill>
                          <a:latin typeface="Tahoma"/>
                        </a:defRPr>
                      </a:pPr>
                      <a:r>
                        <a:t>จัดการรถและจุดรับส่ง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3748"/>
                          </a:solidFill>
                          <a:latin typeface="Tahoma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3748"/>
                          </a:solidFill>
                          <a:latin typeface="Tahoma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3748"/>
                          </a:solidFill>
                          <a:latin typeface="Tahoma"/>
                        </a:defRPr>
                      </a:pPr>
                      <a:r>
                        <a:t>ถาม-ตอบ และแจกช่องทางขอความช่วยเหลือ</a:t>
                      </a:r>
                    </a:p>
                  </a:txBody>
                  <a:tcPr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D3748"/>
                          </a:solidFill>
                          <a:latin typeface="Tahoma"/>
                        </a:defRPr>
                      </a:pPr>
                    </a:p>
                  </a:txBody>
                  <a:tcPr>
                    <a:solidFill>
                      <a:srgbClr val="F6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60000"/>
            <a:ext cx="110412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3000" b="1">
                <a:solidFill>
                  <a:srgbClr val="183A5A"/>
                </a:solidFill>
                <a:latin typeface="Tahoma"/>
              </a:rPr>
              <a:t>ข้อจำกัดที่ควรบอกตั้งแต่ต้น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0">
                <a:solidFill>
                  <a:srgbClr val="5B6770"/>
                </a:solidFill>
                <a:latin typeface="Tahoma"/>
              </a:rPr>
              <a:t>การบอกข้อจำกัดตั้งแต่ต้น ดีกว่าให้ครูไปเจอเอง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4000" y="1512000"/>
            <a:ext cx="1082520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1300"/>
              </a:spcAft>
            </a:pPr>
            <a:r>
              <a:rPr sz="1900" b="0">
                <a:solidFill>
                  <a:srgbClr val="2D3748"/>
                </a:solidFill>
                <a:latin typeface="Tahoma"/>
              </a:rPr>
              <a:t>การเชื่อม LINE ผู้ปกครองยังไม่แพร่หลาย — ผูกแล้ว 11 รายจาก 4,462 ยังไม่ควรประกาศกับผู้ปกครองว่าใช้ได้แล้ว</a:t>
            </a:r>
          </a:p>
          <a:p>
            <a:pPr algn="l">
              <a:lnSpc>
                <a:spcPct val="135000"/>
              </a:lnSpc>
              <a:spcAft>
                <a:spcPts val="1300"/>
              </a:spcAft>
            </a:pPr>
            <a:r>
              <a:rPr sz="1900" b="0">
                <a:solidFill>
                  <a:srgbClr val="2D3748"/>
                </a:solidFill>
                <a:latin typeface="Tahoma"/>
              </a:rPr>
              <a:t>การเช็กชื่อขึ้น-ลงรถหยุดนิ่งตั้งแต่ 2 กรกฎาคม 2569 — ไม่ใช่ระบบเสีย แต่ยังไม่มีคนขับใช้งาน</a:t>
            </a:r>
          </a:p>
          <a:p>
            <a:pPr algn="l">
              <a:lnSpc>
                <a:spcPct val="135000"/>
              </a:lnSpc>
              <a:spcAft>
                <a:spcPts val="1300"/>
              </a:spcAft>
            </a:pPr>
            <a:r>
              <a:rPr sz="1900" b="0">
                <a:solidFill>
                  <a:srgbClr val="2D3748"/>
                </a:solidFill>
                <a:latin typeface="Tahoma"/>
              </a:rPr>
              <a:t>จุดรับส่งมีเพียง 27 จุด จากรถ 586 คัน — ข้อมูลเส้นทางยังไม่ครบ</a:t>
            </a:r>
          </a:p>
          <a:p>
            <a:pPr algn="l">
              <a:lnSpc>
                <a:spcPct val="135000"/>
              </a:lnSpc>
              <a:spcAft>
                <a:spcPts val="1300"/>
              </a:spcAft>
            </a:pPr>
            <a:r>
              <a:rPr sz="1900" b="0">
                <a:solidFill>
                  <a:srgbClr val="2D3748"/>
                </a:solidFill>
                <a:latin typeface="Tahoma"/>
              </a:rPr>
              <a:t>หน้าผู้ปกครองทดสอบนอกแอป LINE ไม่ได้ — เป็นข้อจำกัดโดยการออกแบบเพื่อความปลอดภัย</a:t>
            </a:r>
          </a:p>
          <a:p>
            <a:pPr algn="l">
              <a:lnSpc>
                <a:spcPct val="135000"/>
              </a:lnSpc>
              <a:spcAft>
                <a:spcPts val="1300"/>
              </a:spcAft>
            </a:pPr>
            <a:r>
              <a:rPr sz="1900" b="0">
                <a:solidFill>
                  <a:srgbClr val="2D3748"/>
                </a:solidFill>
                <a:latin typeface="Tahoma"/>
              </a:rPr>
              <a:t>การอ่านหน้าจอกลางแดดและการกดขณะรถสั่นยังไม่ได้ทดสอบ — ต้องลองบนมือถือจริง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60000"/>
            <a:ext cx="110412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3000" b="1">
                <a:solidFill>
                  <a:srgbClr val="183A5A"/>
                </a:solidFill>
                <a:latin typeface="Tahoma"/>
              </a:rPr>
              <a:t>สี่คำถามที่ต้องเคาะวันนี้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0">
                <a:solidFill>
                  <a:srgbClr val="5B6770"/>
                </a:solidFill>
                <a:latin typeface="Tahoma"/>
              </a:rPr>
              <a:t>ต้องได้ข้อสรุปก่อนประกาศใช้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4000" y="1584000"/>
            <a:ext cx="10825200" cy="720000"/>
          </a:xfrm>
          <a:prstGeom prst="roundRect">
            <a:avLst>
              <a:gd name="adj" fmla="val 6000"/>
            </a:avLst>
          </a:prstGeom>
          <a:solidFill>
            <a:srgbClr val="F6FAFC"/>
          </a:solidFill>
          <a:ln w="12700">
            <a:solidFill>
              <a:srgbClr val="D5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7999" y="1746000"/>
            <a:ext cx="43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2400" b="1">
                <a:solidFill>
                  <a:srgbClr val="245D7A"/>
                </a:solidFill>
                <a:latin typeface="Tahom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0000" y="1764000"/>
            <a:ext cx="101052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0">
                <a:solidFill>
                  <a:srgbClr val="2D3748"/>
                </a:solidFill>
                <a:latin typeface="Tahoma"/>
              </a:rPr>
              <a:t>เป้าหมายจำนวนบัญชีที่ต้องเข้าระบบสำเร็จ ภายในกี่วันหลังประกาศใช้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4000" y="2394000"/>
            <a:ext cx="10825200" cy="720000"/>
          </a:xfrm>
          <a:prstGeom prst="roundRect">
            <a:avLst>
              <a:gd name="adj" fmla="val 6000"/>
            </a:avLst>
          </a:prstGeom>
          <a:solidFill>
            <a:srgbClr val="F6FAFC"/>
          </a:solidFill>
          <a:ln w="12700">
            <a:solidFill>
              <a:srgbClr val="D5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999" y="2556000"/>
            <a:ext cx="43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2400" b="1">
                <a:solidFill>
                  <a:srgbClr val="245D7A"/>
                </a:solidFill>
                <a:latin typeface="Tahom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0000" y="2574000"/>
            <a:ext cx="101052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0">
                <a:solidFill>
                  <a:srgbClr val="2D3748"/>
                </a:solidFill>
                <a:latin typeface="Tahoma"/>
              </a:rPr>
              <a:t>ใครรับผิดชอบผูกรถให้คนขับ 44 รายที่เหลือ และเสร็จเมื่อไร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4000" y="3204000"/>
            <a:ext cx="10825200" cy="720000"/>
          </a:xfrm>
          <a:prstGeom prst="roundRect">
            <a:avLst>
              <a:gd name="adj" fmla="val 6000"/>
            </a:avLst>
          </a:prstGeom>
          <a:solidFill>
            <a:srgbClr val="F6FAFC"/>
          </a:solidFill>
          <a:ln w="12700">
            <a:solidFill>
              <a:srgbClr val="D5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999" y="3366000"/>
            <a:ext cx="43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2400" b="1">
                <a:solidFill>
                  <a:srgbClr val="245D7A"/>
                </a:solidFill>
                <a:latin typeface="Tahoma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0000" y="3384000"/>
            <a:ext cx="101052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0">
                <a:solidFill>
                  <a:srgbClr val="2D3748"/>
                </a:solidFill>
                <a:latin typeface="Tahoma"/>
              </a:rPr>
              <a:t>กระบวนการตรวจรับรองรถจะเริ่มเมื่อไร ตั้งเป้ากี่คันต่อเดือน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4000" y="4014000"/>
            <a:ext cx="10825200" cy="720000"/>
          </a:xfrm>
          <a:prstGeom prst="roundRect">
            <a:avLst>
              <a:gd name="adj" fmla="val 6000"/>
            </a:avLst>
          </a:prstGeom>
          <a:solidFill>
            <a:srgbClr val="F6FAFC"/>
          </a:solidFill>
          <a:ln w="12700">
            <a:solidFill>
              <a:srgbClr val="D5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999" y="4176000"/>
            <a:ext cx="43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2400" b="1">
                <a:solidFill>
                  <a:srgbClr val="245D7A"/>
                </a:solidFill>
                <a:latin typeface="Tahoma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0000" y="4194000"/>
            <a:ext cx="101052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0">
                <a:solidFill>
                  <a:srgbClr val="2D3748"/>
                </a:solidFill>
                <a:latin typeface="Tahoma"/>
              </a:rPr>
              <a:t>จะประกาศให้ผู้ปกครองใช้ LINE เมื่อผูกบัญชีได้กี่เปอร์เซ็นต์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